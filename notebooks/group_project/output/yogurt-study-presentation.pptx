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af5ca256db80cf3f231eff04deb06d99e95e72be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Effect of Yogurt on the Vaginal Microbiome
After Antibiotic Treatment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Group A — Yogurt Study
Linear models adjusting for baseline
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Does eating yogurt (vs. an unchanged diet) help restore a healthier
vaginal microbiome after antibiotic treatment?
Study design: 51 women (26 yogurt, 25 unchanged diet)
Each participant sampled at baseline and after antibiotics
Outcomes measured:
  • Total bacterial load (16S rRNA gene copies)
  • L. crispatus abundance
  • L. iners abundance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Table 1 — Participant Characteristics by Study Arm</a:t>
            </a:r>
          </a:p>
        </p:txBody>
      </p:sp>
      <p:graphicFrame>
        <p:nvGraphicFramePr>
          <p:cNvPr id="3" name="Content Placeholder 2"/>
          <p:cNvGraphicFramePr>
            <a:graphicFrameLocks noGrp="true"/>
          </p:cNvGraphicFramePr>
          <p:nvPr/>
        </p:nvGraphicFramePr>
        <p:xfrm rot="0"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2254868"/>
                <a:gridCol w="1409666"/>
                <a:gridCol w="858689"/>
                <a:gridCol w="749863"/>
              </a:tblGrid>
              <a:tr h="57277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Characteristic</a:t>
                      </a:r>
                    </a:p>
                  </a:txBody>
                  <a:tcPr anchor="ctr" marB="25400" marT="25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unchanged_diet</a:t>
                      </a: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  </a:t>
                      </a:r>
                      <a:b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</a:b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N = 25</a:t>
                      </a:r>
                      <a:r>
                        <a:rPr cap="none" sz="1100" i="0" b="0" u="none" strike="noStrike" baseline="40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25400" marT="25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yogurt</a:t>
                      </a: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  </a:t>
                      </a:r>
                      <a:b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</a:b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N = 26</a:t>
                      </a:r>
                      <a:r>
                        <a:rPr cap="none" sz="1100" i="0" b="0" u="none" strike="noStrike" baseline="40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25400" marT="25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p-value</a:t>
                      </a:r>
                      <a:r>
                        <a:rPr cap="none" sz="1100" i="0" b="0" u="none" strike="noStrike" baseline="40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</a:t>
                      </a:r>
                    </a:p>
                  </a:txBody>
                  <a:tcPr anchor="ctr" marB="25400" marT="25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days_since_last_sex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 (3, 10)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 (3, 11)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0.8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birth_control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0.017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Depoprovera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 (32%)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17 (65%)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no hormonal birth control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17 (68%)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9 (35%)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age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30.4 (3.3)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31.0 (3.3)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0.5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education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0.8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grade 10-12, matriculated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 (24%)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 (15%)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grade 10-12, not matriculated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9 (36%)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12 (46%)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less than grade 9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 (16%)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 (19%)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post-secondary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 (24%)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 (19%)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gridSpan="4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 baseline="40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Median (Q1, Q3); n (%); Mean (SD)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gridSpan="4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 baseline="4000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</a:t>
                      </a: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Wilcoxon rank sum test; Pearson's Chi-squared test; Welch Two Sample t-test; Fisher's exact test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Figure 2 — qPCR Results: Yogurt vs Unchanged Diet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Wilcoxon rank-sum test p-values shown above each comparison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Linear Model — Total Bacteria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457200" y="1371600"/>
          <a:ext cx="7315200" cy="2286000"/>
        </p:xfrm>
        <a:graphic>
          <a:graphicData uri="http://schemas.openxmlformats.org/drawingml/2006/table">
            <a:tbl>
              <a:tblPr/>
              <a:tblGrid>
                <a:gridCol w="1619635"/>
                <a:gridCol w="579150"/>
                <a:gridCol w="928679"/>
                <a:gridCol w="749863"/>
              </a:tblGrid>
              <a:tr h="4051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Characteristic</a:t>
                      </a:r>
                    </a:p>
                  </a:txBody>
                  <a:tcPr anchor="ctr" marB="25400" marT="25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Beta</a:t>
                      </a:r>
                    </a:p>
                  </a:txBody>
                  <a:tcPr anchor="ctr" marB="25400" marT="25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95% CI</a:t>
                      </a:r>
                    </a:p>
                  </a:txBody>
                  <a:tcPr anchor="ctr" marB="25400" marT="25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p-value</a:t>
                      </a:r>
                    </a:p>
                  </a:txBody>
                  <a:tcPr anchor="ctr" marB="25400" marT="25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arm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unchanged_diet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—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—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yogurt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-0.37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-0.77, 0.02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0.061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log_bacteria_baseline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0.55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0.16, 0.94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0.007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gridSpan="4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Abbreviation: CI = Confidence Interval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3657600"/>
            <a:ext cx="7315200" cy="2743200"/>
          </a:xfrm>
        </p:spPr>
        <p:txBody>
          <a:bodyPr/>
          <a:lstStyle/>
          <a:p>
            <a:r>
              <a:rPr/>
              <a:t>Formula: log10(after_antibiotic) ~ arm + log10(baseline)
Key finding: Yogurt group had 0.37 log-units LESS total bacteria
after antibiotics (adjusting for baseline).
p = 0.061 — borderline, not quite statistically significant.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Linear Model — L. crispatus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457200" y="1371600"/>
          <a:ext cx="7315200" cy="2286000"/>
        </p:xfrm>
        <a:graphic>
          <a:graphicData uri="http://schemas.openxmlformats.org/drawingml/2006/table">
            <a:tbl>
              <a:tblPr/>
              <a:tblGrid>
                <a:gridCol w="1681662"/>
                <a:gridCol w="579150"/>
                <a:gridCol w="851006"/>
                <a:gridCol w="749863"/>
              </a:tblGrid>
              <a:tr h="4051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Characteristic</a:t>
                      </a:r>
                    </a:p>
                  </a:txBody>
                  <a:tcPr anchor="ctr" marB="25400" marT="25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Beta</a:t>
                      </a:r>
                    </a:p>
                  </a:txBody>
                  <a:tcPr anchor="ctr" marB="25400" marT="25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95% CI</a:t>
                      </a:r>
                    </a:p>
                  </a:txBody>
                  <a:tcPr anchor="ctr" marB="25400" marT="25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p-value</a:t>
                      </a:r>
                    </a:p>
                  </a:txBody>
                  <a:tcPr anchor="ctr" marB="25400" marT="25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arm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unchanged_diet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—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—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yogurt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0.82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-0.40, 2.0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0.2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log_crispatus_baseline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-0.30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-1.6, 0.99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0.6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gridSpan="4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Abbreviation: CI = Confidence Interval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3657600"/>
            <a:ext cx="7315200" cy="2743200"/>
          </a:xfrm>
        </p:spPr>
        <p:txBody>
          <a:bodyPr/>
          <a:lstStyle/>
          <a:p>
            <a:r>
              <a:rPr/>
              <a:t>Formula: log10(after_antibiotic) ~ arm + log10(baseline)
Key finding: Yogurt group had 0.82 log-units HIGHER L. crispatus
after antibiotics (adjusting for baseline).
p = 0.2 — not significant. Wide confidence interval (-0.40, 2.0)
means we are very uncertain about this estimate.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Linear Model — L. iners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457200" y="1371600"/>
          <a:ext cx="7315200" cy="2286000"/>
        </p:xfrm>
        <a:graphic>
          <a:graphicData uri="http://schemas.openxmlformats.org/drawingml/2006/table">
            <a:tbl>
              <a:tblPr/>
              <a:tblGrid>
                <a:gridCol w="1425452"/>
                <a:gridCol w="579150"/>
                <a:gridCol w="928679"/>
                <a:gridCol w="749863"/>
              </a:tblGrid>
              <a:tr h="4051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Characteristic</a:t>
                      </a:r>
                    </a:p>
                  </a:txBody>
                  <a:tcPr anchor="ctr" marB="25400" marT="25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Beta</a:t>
                      </a:r>
                    </a:p>
                  </a:txBody>
                  <a:tcPr anchor="ctr" marB="25400" marT="25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95% CI</a:t>
                      </a:r>
                    </a:p>
                  </a:txBody>
                  <a:tcPr anchor="ctr" marB="25400" marT="25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p-value</a:t>
                      </a:r>
                    </a:p>
                  </a:txBody>
                  <a:tcPr anchor="ctr" marB="25400" marT="254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arm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unchanged_diet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—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—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marL="190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yogurt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-0.17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-0.78, 0.44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0.6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log_iners_baseline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-0.03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-0.22, 0.16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0.8</a:t>
                      </a:r>
                    </a:p>
                  </a:txBody>
                  <a:tcPr anchor="t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270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gridSpan="4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Abbreviation: CI = Confidence Interval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3657600"/>
            <a:ext cx="7315200" cy="2743200"/>
          </a:xfrm>
        </p:spPr>
        <p:txBody>
          <a:bodyPr/>
          <a:lstStyle/>
          <a:p>
            <a:r>
              <a:rPr/>
              <a:t>Formula: log10(after_antibiotic) ~ arm + log10(baseline)
Key finding: No meaningful difference between groups.
Beta = -0.17, p = 0.6. Yogurt does not appear to affect
L. iners levels after antibiotics.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Summary of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1. Randomisation worked — arms balanced on age, birth control,
   education, and baseline bacterial levels (Table 1).
2. Antibiotics caused a dramatic ~20-30× drop in total bacterial
   load in both groups.
3. Yogurt effect: None of the three models reached p &lt; 0.05
   • Total bacteria:  Beta = -0.37,  p = 0.061 (borderline)
   • L. crispatus:    Beta = +0.82,  p = 0.2
   • L. iners:        Beta = -0.17,  p = 0.6
4. The total bacteria result hints that yogurt may help reduce
   bacterial load after antibiotics, but a larger study is needed
   to confirm this.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rstudio</cp:lastModifiedBy>
  <cp:revision>3</cp:revision>
  <dcterms:created xsi:type="dcterms:W3CDTF">2017-02-13T16:18:36Z</dcterms:created>
  <dcterms:modified xsi:type="dcterms:W3CDTF">2026-06-05T08:30:56Z</dcterms:modified>
  <cp:category/>
</cp:coreProperties>
</file>